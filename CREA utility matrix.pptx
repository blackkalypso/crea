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803" r:id="rId2"/>
    <p:sldId id="804" r:id="rId3"/>
  </p:sldIdLst>
  <p:sldSz cx="12192000" cy="6858000"/>
  <p:notesSz cx="6889750" cy="1002188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F2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0" autoAdjust="0"/>
    <p:restoredTop sz="94660"/>
  </p:normalViewPr>
  <p:slideViewPr>
    <p:cSldViewPr snapToGrid="0">
      <p:cViewPr>
        <p:scale>
          <a:sx n="90" d="100"/>
          <a:sy n="90" d="100"/>
        </p:scale>
        <p:origin x="408" y="-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2817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9" cy="502834"/>
          </a:xfrm>
          <a:prstGeom prst="rect">
            <a:avLst/>
          </a:prstGeom>
        </p:spPr>
        <p:txBody>
          <a:bodyPr vert="horz" lIns="96630" tIns="48316" rIns="96630" bIns="48316" rtlCol="0"/>
          <a:lstStyle>
            <a:lvl1pPr algn="l">
              <a:defRPr sz="13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9" cy="502834"/>
          </a:xfrm>
          <a:prstGeom prst="rect">
            <a:avLst/>
          </a:prstGeom>
        </p:spPr>
        <p:txBody>
          <a:bodyPr vert="horz" lIns="96630" tIns="48316" rIns="96630" bIns="48316" rtlCol="0"/>
          <a:lstStyle>
            <a:lvl1pPr algn="r">
              <a:defRPr sz="1300"/>
            </a:lvl1pPr>
          </a:lstStyle>
          <a:p>
            <a:fld id="{3EE7187F-3A57-4E2F-B5F7-D361E755EE97}" type="datetimeFigureOut">
              <a:rPr lang="fr-CH" smtClean="0"/>
              <a:t>21.02.2019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0" tIns="48316" rIns="96630" bIns="48316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0" tIns="48316" rIns="96630" bIns="48316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9" cy="502833"/>
          </a:xfrm>
          <a:prstGeom prst="rect">
            <a:avLst/>
          </a:prstGeom>
        </p:spPr>
        <p:txBody>
          <a:bodyPr vert="horz" lIns="96630" tIns="48316" rIns="96630" bIns="48316" rtlCol="0" anchor="b"/>
          <a:lstStyle>
            <a:lvl1pPr algn="l">
              <a:defRPr sz="13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9" cy="502833"/>
          </a:xfrm>
          <a:prstGeom prst="rect">
            <a:avLst/>
          </a:prstGeom>
        </p:spPr>
        <p:txBody>
          <a:bodyPr vert="horz" lIns="96630" tIns="48316" rIns="96630" bIns="48316" rtlCol="0" anchor="b"/>
          <a:lstStyle>
            <a:lvl1pPr algn="r">
              <a:defRPr sz="1300"/>
            </a:lvl1pPr>
          </a:lstStyle>
          <a:p>
            <a:fld id="{3AE67641-AEC1-4FB7-86A7-D18196DD2FB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751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7EAE2564-7484-40E8-B92C-A6E310754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134" y="6342380"/>
            <a:ext cx="560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501D2290-D58B-4D0B-A1CA-2BB2612F47BD}" type="slidenum">
              <a:rPr lang="fr-CH" smtClean="0"/>
              <a:pPr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64295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C477618B-91ED-4079-A1D5-66FB3BB061D4}"/>
              </a:ext>
            </a:extLst>
          </p:cNvPr>
          <p:cNvCxnSpPr/>
          <p:nvPr userDrawn="1"/>
        </p:nvCxnSpPr>
        <p:spPr>
          <a:xfrm>
            <a:off x="0" y="6286500"/>
            <a:ext cx="12115800" cy="0"/>
          </a:xfrm>
          <a:prstGeom prst="line">
            <a:avLst/>
          </a:prstGeom>
          <a:ln w="12700">
            <a:solidFill>
              <a:srgbClr val="00206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74381CC7-0267-4465-9F93-6A01E0EDCAFE}"/>
              </a:ext>
            </a:extLst>
          </p:cNvPr>
          <p:cNvSpPr txBox="1"/>
          <p:nvPr userDrawn="1"/>
        </p:nvSpPr>
        <p:spPr>
          <a:xfrm>
            <a:off x="2958089" y="6383616"/>
            <a:ext cx="4931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dirty="0">
                <a:solidFill>
                  <a:schemeClr val="accent1">
                    <a:lumMod val="50000"/>
                  </a:schemeClr>
                </a:solidFill>
              </a:rPr>
              <a:t>Agile management - Christophe Clavé – CREA 2019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C6B7A11-20BB-41C1-811F-D29E8AC4A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134" y="6342380"/>
            <a:ext cx="560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501D2290-D58B-4D0B-A1CA-2BB2612F47BD}" type="slidenum">
              <a:rPr lang="fr-CH" smtClean="0"/>
              <a:pPr/>
              <a:t>‹N°›</a:t>
            </a:fld>
            <a:endParaRPr lang="fr-CH" dirty="0"/>
          </a:p>
        </p:txBody>
      </p:sp>
      <p:pic>
        <p:nvPicPr>
          <p:cNvPr id="1026" name="Picture 2" descr="https://www.creageneve.com/wp-content/themes/crea/assets/pics/logo.png">
            <a:extLst>
              <a:ext uri="{FF2B5EF4-FFF2-40B4-BE49-F238E27FC236}">
                <a16:creationId xmlns:a16="http://schemas.microsoft.com/office/drawing/2014/main" id="{424D8E6A-0FE5-43B5-A72B-C8486D123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44" y="6316422"/>
            <a:ext cx="719598" cy="50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89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EE3A8D-9382-4A77-9D8C-0A4C6585E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7494" y="6342380"/>
            <a:ext cx="457325" cy="365125"/>
          </a:xfrm>
        </p:spPr>
        <p:txBody>
          <a:bodyPr/>
          <a:lstStyle/>
          <a:p>
            <a:fld id="{501D2290-D58B-4D0B-A1CA-2BB2612F47BD}" type="slidenum">
              <a:rPr lang="fr-CH" smtClean="0"/>
              <a:pPr/>
              <a:t>1</a:t>
            </a:fld>
            <a:endParaRPr lang="fr-CH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1482ED7-19E6-42FB-8F48-97F674542C59}"/>
              </a:ext>
            </a:extLst>
          </p:cNvPr>
          <p:cNvSpPr txBox="1"/>
          <p:nvPr/>
        </p:nvSpPr>
        <p:spPr>
          <a:xfrm>
            <a:off x="34413" y="0"/>
            <a:ext cx="12123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400" b="1" dirty="0" err="1">
                <a:solidFill>
                  <a:srgbClr val="002060"/>
                </a:solidFill>
              </a:rPr>
              <a:t>Increasing</a:t>
            </a:r>
            <a:r>
              <a:rPr lang="fr-CH" sz="2400" b="1" dirty="0">
                <a:solidFill>
                  <a:srgbClr val="002060"/>
                </a:solidFill>
              </a:rPr>
              <a:t> utility, a </a:t>
            </a:r>
            <a:r>
              <a:rPr lang="fr-CH" sz="2400" b="1" dirty="0" err="1">
                <a:solidFill>
                  <a:srgbClr val="002060"/>
                </a:solidFill>
              </a:rPr>
              <a:t>each</a:t>
            </a:r>
            <a:r>
              <a:rPr lang="fr-CH" sz="2400" b="1" dirty="0">
                <a:solidFill>
                  <a:srgbClr val="002060"/>
                </a:solidFill>
              </a:rPr>
              <a:t> </a:t>
            </a:r>
            <a:r>
              <a:rPr lang="fr-CH" sz="2400" b="1" dirty="0" err="1">
                <a:solidFill>
                  <a:srgbClr val="002060"/>
                </a:solidFill>
              </a:rPr>
              <a:t>step</a:t>
            </a:r>
            <a:r>
              <a:rPr lang="fr-CH" sz="2400" b="1" dirty="0">
                <a:solidFill>
                  <a:srgbClr val="002060"/>
                </a:solidFill>
              </a:rPr>
              <a:t> of the </a:t>
            </a:r>
            <a:r>
              <a:rPr lang="fr-CH" sz="2400" b="1" dirty="0" err="1">
                <a:solidFill>
                  <a:srgbClr val="002060"/>
                </a:solidFill>
              </a:rPr>
              <a:t>customer’s</a:t>
            </a:r>
            <a:r>
              <a:rPr lang="fr-CH" sz="2400" b="1" dirty="0">
                <a:solidFill>
                  <a:srgbClr val="002060"/>
                </a:solidFill>
              </a:rPr>
              <a:t> </a:t>
            </a:r>
            <a:r>
              <a:rPr lang="fr-CH" sz="2400" b="1" dirty="0" err="1">
                <a:solidFill>
                  <a:srgbClr val="002060"/>
                </a:solidFill>
              </a:rPr>
              <a:t>experience</a:t>
            </a:r>
            <a:endParaRPr lang="fr-CH" sz="2400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CB2019D-4EA1-4801-9CE5-21A343804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936243"/>
              </p:ext>
            </p:extLst>
          </p:nvPr>
        </p:nvGraphicFramePr>
        <p:xfrm>
          <a:off x="695699" y="747969"/>
          <a:ext cx="11312258" cy="5637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445">
                  <a:extLst>
                    <a:ext uri="{9D8B030D-6E8A-4147-A177-3AD203B41FA5}">
                      <a16:colId xmlns:a16="http://schemas.microsoft.com/office/drawing/2014/main" val="4022195436"/>
                    </a:ext>
                  </a:extLst>
                </a:gridCol>
                <a:gridCol w="1434283">
                  <a:extLst>
                    <a:ext uri="{9D8B030D-6E8A-4147-A177-3AD203B41FA5}">
                      <a16:colId xmlns:a16="http://schemas.microsoft.com/office/drawing/2014/main" val="2104288961"/>
                    </a:ext>
                  </a:extLst>
                </a:gridCol>
                <a:gridCol w="1646706">
                  <a:extLst>
                    <a:ext uri="{9D8B030D-6E8A-4147-A177-3AD203B41FA5}">
                      <a16:colId xmlns:a16="http://schemas.microsoft.com/office/drawing/2014/main" val="3204127125"/>
                    </a:ext>
                  </a:extLst>
                </a:gridCol>
                <a:gridCol w="1646706">
                  <a:extLst>
                    <a:ext uri="{9D8B030D-6E8A-4147-A177-3AD203B41FA5}">
                      <a16:colId xmlns:a16="http://schemas.microsoft.com/office/drawing/2014/main" val="3970820029"/>
                    </a:ext>
                  </a:extLst>
                </a:gridCol>
                <a:gridCol w="1646706">
                  <a:extLst>
                    <a:ext uri="{9D8B030D-6E8A-4147-A177-3AD203B41FA5}">
                      <a16:colId xmlns:a16="http://schemas.microsoft.com/office/drawing/2014/main" val="369891012"/>
                    </a:ext>
                  </a:extLst>
                </a:gridCol>
                <a:gridCol w="1646706">
                  <a:extLst>
                    <a:ext uri="{9D8B030D-6E8A-4147-A177-3AD203B41FA5}">
                      <a16:colId xmlns:a16="http://schemas.microsoft.com/office/drawing/2014/main" val="1566879046"/>
                    </a:ext>
                  </a:extLst>
                </a:gridCol>
                <a:gridCol w="1646706">
                  <a:extLst>
                    <a:ext uri="{9D8B030D-6E8A-4147-A177-3AD203B41FA5}">
                      <a16:colId xmlns:a16="http://schemas.microsoft.com/office/drawing/2014/main" val="1253754256"/>
                    </a:ext>
                  </a:extLst>
                </a:gridCol>
              </a:tblGrid>
              <a:tr h="496008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 err="1"/>
                        <a:t>Purchase</a:t>
                      </a:r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 err="1"/>
                        <a:t>Supplements</a:t>
                      </a:r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 err="1"/>
                        <a:t>Disposal</a:t>
                      </a:r>
                      <a:endParaRPr lang="fr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004708"/>
                  </a:ext>
                </a:extLst>
              </a:tr>
              <a:tr h="868014">
                <a:tc>
                  <a:txBody>
                    <a:bodyPr/>
                    <a:lstStyle/>
                    <a:p>
                      <a:pPr algn="ctr"/>
                      <a:r>
                        <a:rPr lang="fr-CH" dirty="0">
                          <a:solidFill>
                            <a:schemeClr val="bg1"/>
                          </a:solidFill>
                        </a:rPr>
                        <a:t>Customer </a:t>
                      </a:r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productivity</a:t>
                      </a:r>
                      <a:endParaRPr lang="fr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653552"/>
                  </a:ext>
                </a:extLst>
              </a:tr>
              <a:tr h="786068">
                <a:tc>
                  <a:txBody>
                    <a:bodyPr/>
                    <a:lstStyle/>
                    <a:p>
                      <a:pPr algn="ctr"/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Simplicity</a:t>
                      </a:r>
                      <a:endParaRPr lang="fr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209777"/>
                  </a:ext>
                </a:extLst>
              </a:tr>
              <a:tr h="763348">
                <a:tc>
                  <a:txBody>
                    <a:bodyPr/>
                    <a:lstStyle/>
                    <a:p>
                      <a:pPr algn="ctr"/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Convenience</a:t>
                      </a:r>
                      <a:endParaRPr lang="fr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645841"/>
                  </a:ext>
                </a:extLst>
              </a:tr>
              <a:tr h="805656">
                <a:tc>
                  <a:txBody>
                    <a:bodyPr/>
                    <a:lstStyle/>
                    <a:p>
                      <a:pPr algn="ctr"/>
                      <a:r>
                        <a:rPr lang="fr-CH" dirty="0">
                          <a:solidFill>
                            <a:schemeClr val="bg1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316731"/>
                  </a:ext>
                </a:extLst>
              </a:tr>
              <a:tr h="842357">
                <a:tc>
                  <a:txBody>
                    <a:bodyPr/>
                    <a:lstStyle/>
                    <a:p>
                      <a:pPr algn="ctr"/>
                      <a:r>
                        <a:rPr lang="fr-CH" dirty="0">
                          <a:solidFill>
                            <a:schemeClr val="bg1"/>
                          </a:solidFill>
                        </a:rPr>
                        <a:t>Fun and image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400" dirty="0"/>
                        <a:t>Achat en ligne est une garantie, gain de temps, accès permanent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1664"/>
                  </a:ext>
                </a:extLst>
              </a:tr>
              <a:tr h="973393">
                <a:tc>
                  <a:txBody>
                    <a:bodyPr/>
                    <a:lstStyle/>
                    <a:p>
                      <a:pPr algn="ctr"/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Environmental</a:t>
                      </a:r>
                      <a:r>
                        <a:rPr lang="fr-CH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friendliness</a:t>
                      </a:r>
                      <a:endParaRPr lang="fr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671705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F6965CFB-E76B-4745-BE04-382D5CA19299}"/>
              </a:ext>
            </a:extLst>
          </p:cNvPr>
          <p:cNvSpPr txBox="1"/>
          <p:nvPr/>
        </p:nvSpPr>
        <p:spPr>
          <a:xfrm>
            <a:off x="4162855" y="390521"/>
            <a:ext cx="422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b="1" dirty="0"/>
              <a:t>The 6 stages of the </a:t>
            </a:r>
            <a:r>
              <a:rPr lang="fr-CH" b="1" dirty="0" err="1"/>
              <a:t>buyer</a:t>
            </a:r>
            <a:r>
              <a:rPr lang="fr-CH" b="1" dirty="0"/>
              <a:t> </a:t>
            </a:r>
            <a:r>
              <a:rPr lang="fr-CH" b="1" dirty="0" err="1"/>
              <a:t>experience</a:t>
            </a:r>
            <a:r>
              <a:rPr lang="fr-CH" b="1" dirty="0"/>
              <a:t> cycle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98DB0B3-9704-4858-BA77-2595B511AAE7}"/>
              </a:ext>
            </a:extLst>
          </p:cNvPr>
          <p:cNvSpPr txBox="1"/>
          <p:nvPr/>
        </p:nvSpPr>
        <p:spPr>
          <a:xfrm rot="16200000">
            <a:off x="-678425" y="3492910"/>
            <a:ext cx="2241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b="1" dirty="0"/>
              <a:t>The 6 utility levers</a:t>
            </a:r>
          </a:p>
        </p:txBody>
      </p:sp>
    </p:spTree>
    <p:extLst>
      <p:ext uri="{BB962C8B-B14F-4D97-AF65-F5344CB8AC3E}">
        <p14:creationId xmlns:p14="http://schemas.microsoft.com/office/powerpoint/2010/main" val="149310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EE3A8D-9382-4A77-9D8C-0A4C6585E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0" y="6214964"/>
            <a:ext cx="1264920" cy="365125"/>
          </a:xfrm>
        </p:spPr>
        <p:txBody>
          <a:bodyPr/>
          <a:lstStyle/>
          <a:p>
            <a:fld id="{501D2290-D58B-4D0B-A1CA-2BB2612F47BD}" type="slidenum">
              <a:rPr lang="fr-CH" smtClean="0"/>
              <a:pPr/>
              <a:t>2</a:t>
            </a:fld>
            <a:endParaRPr lang="fr-CH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CB2019D-4EA1-4801-9CE5-21A3438049B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4011">
                  <a:extLst>
                    <a:ext uri="{9D8B030D-6E8A-4147-A177-3AD203B41FA5}">
                      <a16:colId xmlns:a16="http://schemas.microsoft.com/office/drawing/2014/main" val="4022195436"/>
                    </a:ext>
                  </a:extLst>
                </a:gridCol>
                <a:gridCol w="1748990">
                  <a:extLst>
                    <a:ext uri="{9D8B030D-6E8A-4147-A177-3AD203B41FA5}">
                      <a16:colId xmlns:a16="http://schemas.microsoft.com/office/drawing/2014/main" val="2104288961"/>
                    </a:ext>
                  </a:extLst>
                </a:gridCol>
                <a:gridCol w="2465727">
                  <a:extLst>
                    <a:ext uri="{9D8B030D-6E8A-4147-A177-3AD203B41FA5}">
                      <a16:colId xmlns:a16="http://schemas.microsoft.com/office/drawing/2014/main" val="3204127125"/>
                    </a:ext>
                  </a:extLst>
                </a:gridCol>
                <a:gridCol w="1593318">
                  <a:extLst>
                    <a:ext uri="{9D8B030D-6E8A-4147-A177-3AD203B41FA5}">
                      <a16:colId xmlns:a16="http://schemas.microsoft.com/office/drawing/2014/main" val="3970820029"/>
                    </a:ext>
                  </a:extLst>
                </a:gridCol>
                <a:gridCol w="1593318">
                  <a:extLst>
                    <a:ext uri="{9D8B030D-6E8A-4147-A177-3AD203B41FA5}">
                      <a16:colId xmlns:a16="http://schemas.microsoft.com/office/drawing/2014/main" val="369891012"/>
                    </a:ext>
                  </a:extLst>
                </a:gridCol>
                <a:gridCol w="1593318">
                  <a:extLst>
                    <a:ext uri="{9D8B030D-6E8A-4147-A177-3AD203B41FA5}">
                      <a16:colId xmlns:a16="http://schemas.microsoft.com/office/drawing/2014/main" val="1566879046"/>
                    </a:ext>
                  </a:extLst>
                </a:gridCol>
                <a:gridCol w="1593318">
                  <a:extLst>
                    <a:ext uri="{9D8B030D-6E8A-4147-A177-3AD203B41FA5}">
                      <a16:colId xmlns:a16="http://schemas.microsoft.com/office/drawing/2014/main" val="1253754256"/>
                    </a:ext>
                  </a:extLst>
                </a:gridCol>
              </a:tblGrid>
              <a:tr h="471588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 err="1"/>
                        <a:t>Purchase</a:t>
                      </a:r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 err="1"/>
                        <a:t>Supplements</a:t>
                      </a:r>
                      <a:endParaRPr lang="fr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 err="1"/>
                        <a:t>Disposal</a:t>
                      </a:r>
                      <a:endParaRPr lang="fr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004708"/>
                  </a:ext>
                </a:extLst>
              </a:tr>
              <a:tr h="1033096">
                <a:tc>
                  <a:txBody>
                    <a:bodyPr/>
                    <a:lstStyle/>
                    <a:p>
                      <a:pPr algn="ctr"/>
                      <a:r>
                        <a:rPr lang="fr-CH" dirty="0">
                          <a:solidFill>
                            <a:schemeClr val="bg1"/>
                          </a:solidFill>
                        </a:rPr>
                        <a:t>Customer </a:t>
                      </a:r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productivity</a:t>
                      </a:r>
                      <a:endParaRPr lang="fr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fast and efficient to start </a:t>
                      </a:r>
                      <a:r>
                        <a:rPr lang="fr-CH" sz="1200" dirty="0" err="1"/>
                        <a:t>making</a:t>
                      </a:r>
                      <a:r>
                        <a:rPr lang="fr-CH" sz="1200" dirty="0"/>
                        <a:t> business </a:t>
                      </a:r>
                      <a:r>
                        <a:rPr lang="fr-CH" sz="1200" dirty="0" err="1"/>
                        <a:t>with</a:t>
                      </a:r>
                      <a:r>
                        <a:rPr lang="fr-CH" sz="1200" dirty="0"/>
                        <a:t> us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 err="1"/>
                        <a:t>From</a:t>
                      </a:r>
                      <a:r>
                        <a:rPr lang="fr-CH" sz="1200" dirty="0"/>
                        <a:t> the first contact to the </a:t>
                      </a:r>
                      <a:r>
                        <a:rPr lang="fr-CH" sz="1200" dirty="0" err="1"/>
                        <a:t>delivery</a:t>
                      </a:r>
                      <a:r>
                        <a:rPr lang="fr-CH" sz="1200" dirty="0"/>
                        <a:t>, </a:t>
                      </a:r>
                      <a:r>
                        <a:rPr lang="fr-CH" sz="1200" dirty="0" err="1"/>
                        <a:t>was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fast and efficient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Once the </a:t>
                      </a:r>
                      <a:r>
                        <a:rPr lang="fr-CH" sz="1200" dirty="0" err="1"/>
                        <a:t>products</a:t>
                      </a:r>
                      <a:r>
                        <a:rPr lang="fr-CH" sz="1200" dirty="0"/>
                        <a:t> or services are </a:t>
                      </a:r>
                      <a:r>
                        <a:rPr lang="fr-CH" sz="1200" dirty="0" err="1"/>
                        <a:t>delivered</a:t>
                      </a:r>
                      <a:r>
                        <a:rPr lang="fr-CH" sz="1200" dirty="0"/>
                        <a:t>, are </a:t>
                      </a:r>
                      <a:r>
                        <a:rPr lang="fr-CH" sz="1200" dirty="0" err="1"/>
                        <a:t>they</a:t>
                      </a:r>
                      <a:r>
                        <a:rPr lang="fr-CH" sz="1200" dirty="0"/>
                        <a:t> quick to use and </a:t>
                      </a:r>
                      <a:r>
                        <a:rPr lang="fr-CH" sz="1200" dirty="0" err="1"/>
                        <a:t>deliver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their</a:t>
                      </a:r>
                      <a:r>
                        <a:rPr lang="fr-CH" sz="1200" dirty="0"/>
                        <a:t> value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Are </a:t>
                      </a:r>
                      <a:r>
                        <a:rPr lang="fr-CH" sz="1200" dirty="0" err="1"/>
                        <a:t>they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easy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understand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available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supplements</a:t>
                      </a:r>
                      <a:r>
                        <a:rPr lang="fr-CH" sz="1200" dirty="0"/>
                        <a:t>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 err="1"/>
                        <a:t>Does</a:t>
                      </a:r>
                      <a:r>
                        <a:rPr lang="fr-CH" sz="1200" dirty="0"/>
                        <a:t>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get</a:t>
                      </a:r>
                      <a:r>
                        <a:rPr lang="fr-CH" sz="1200" dirty="0"/>
                        <a:t> quick, fast and efficient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support </a:t>
                      </a:r>
                      <a:r>
                        <a:rPr lang="fr-CH" sz="1200" dirty="0" err="1"/>
                        <a:t>when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needed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 err="1"/>
                        <a:t>What</a:t>
                      </a:r>
                      <a:r>
                        <a:rPr lang="fr-CH" sz="1200" dirty="0"/>
                        <a:t> can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do </a:t>
                      </a:r>
                      <a:r>
                        <a:rPr lang="fr-CH" sz="1200" dirty="0" err="1"/>
                        <a:t>when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he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wants</a:t>
                      </a:r>
                      <a:r>
                        <a:rPr lang="fr-CH" sz="1200" dirty="0"/>
                        <a:t> to dispose of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653552"/>
                  </a:ext>
                </a:extLst>
              </a:tr>
              <a:tr h="1033096">
                <a:tc>
                  <a:txBody>
                    <a:bodyPr/>
                    <a:lstStyle/>
                    <a:p>
                      <a:pPr algn="ctr"/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Simplicity</a:t>
                      </a:r>
                      <a:endParaRPr lang="fr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Are </a:t>
                      </a:r>
                      <a:r>
                        <a:rPr lang="fr-CH" sz="1200" dirty="0" err="1"/>
                        <a:t>we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easy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make</a:t>
                      </a:r>
                      <a:r>
                        <a:rPr lang="fr-CH" sz="1200" dirty="0"/>
                        <a:t> business </a:t>
                      </a:r>
                      <a:r>
                        <a:rPr lang="fr-CH" sz="1200" dirty="0" err="1"/>
                        <a:t>with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 err="1"/>
                        <a:t>Was</a:t>
                      </a:r>
                      <a:r>
                        <a:rPr lang="fr-CH" sz="1200" dirty="0"/>
                        <a:t> the process of </a:t>
                      </a:r>
                      <a:r>
                        <a:rPr lang="fr-CH" sz="1200" dirty="0" err="1"/>
                        <a:t>having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goods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delivered</a:t>
                      </a:r>
                      <a:r>
                        <a:rPr lang="fr-CH" sz="1200" dirty="0"/>
                        <a:t> simple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Are </a:t>
                      </a:r>
                      <a:r>
                        <a:rPr lang="fr-CH" sz="1200" dirty="0" err="1"/>
                        <a:t>they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easy</a:t>
                      </a:r>
                      <a:r>
                        <a:rPr lang="fr-CH" sz="1200" dirty="0"/>
                        <a:t> to use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easy</a:t>
                      </a:r>
                      <a:r>
                        <a:rPr lang="fr-CH" sz="1200" dirty="0"/>
                        <a:t>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buy</a:t>
                      </a:r>
                      <a:r>
                        <a:rPr lang="fr-CH" sz="1200" dirty="0"/>
                        <a:t> and use </a:t>
                      </a:r>
                      <a:r>
                        <a:rPr lang="fr-CH" sz="1200" dirty="0" err="1"/>
                        <a:t>supplements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around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products</a:t>
                      </a:r>
                      <a:r>
                        <a:rPr lang="fr-CH" sz="1200" dirty="0"/>
                        <a:t> and services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easy</a:t>
                      </a:r>
                      <a:r>
                        <a:rPr lang="fr-CH" sz="1200" dirty="0"/>
                        <a:t> to contact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service and </a:t>
                      </a:r>
                      <a:r>
                        <a:rPr lang="fr-CH" sz="1200" dirty="0" err="1"/>
                        <a:t>get</a:t>
                      </a:r>
                      <a:r>
                        <a:rPr lang="fr-CH" sz="1200" dirty="0"/>
                        <a:t> a </a:t>
                      </a:r>
                      <a:r>
                        <a:rPr lang="fr-CH" sz="1200" dirty="0" err="1"/>
                        <a:t>proper</a:t>
                      </a:r>
                      <a:r>
                        <a:rPr lang="fr-CH" sz="1200" dirty="0"/>
                        <a:t> maintenance </a:t>
                      </a:r>
                      <a:r>
                        <a:rPr lang="fr-CH" sz="1200" dirty="0" err="1"/>
                        <a:t>done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easy</a:t>
                      </a:r>
                      <a:r>
                        <a:rPr lang="fr-CH" sz="1200" dirty="0"/>
                        <a:t> for </a:t>
                      </a:r>
                      <a:r>
                        <a:rPr lang="fr-CH" sz="1200" dirty="0" err="1"/>
                        <a:t>him</a:t>
                      </a:r>
                      <a:r>
                        <a:rPr lang="fr-CH" sz="1200" dirty="0"/>
                        <a:t> ? Do </a:t>
                      </a:r>
                      <a:r>
                        <a:rPr lang="fr-CH" sz="1200" dirty="0" err="1"/>
                        <a:t>we</a:t>
                      </a:r>
                      <a:r>
                        <a:rPr lang="fr-CH" sz="1200" dirty="0"/>
                        <a:t> have a simple process handling </a:t>
                      </a:r>
                      <a:r>
                        <a:rPr lang="fr-CH" sz="1200" dirty="0" err="1"/>
                        <a:t>disposal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209777"/>
                  </a:ext>
                </a:extLst>
              </a:tr>
              <a:tr h="845260">
                <a:tc>
                  <a:txBody>
                    <a:bodyPr/>
                    <a:lstStyle/>
                    <a:p>
                      <a:pPr algn="ctr"/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Convenience</a:t>
                      </a:r>
                      <a:endParaRPr lang="fr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Are </a:t>
                      </a:r>
                      <a:r>
                        <a:rPr lang="fr-CH" sz="1200" dirty="0" err="1"/>
                        <a:t>we</a:t>
                      </a:r>
                      <a:r>
                        <a:rPr lang="fr-CH" sz="1200" dirty="0"/>
                        <a:t> flexible </a:t>
                      </a:r>
                      <a:r>
                        <a:rPr lang="fr-CH" sz="1200" dirty="0" err="1"/>
                        <a:t>enough</a:t>
                      </a:r>
                      <a:r>
                        <a:rPr lang="fr-CH" sz="1200" dirty="0"/>
                        <a:t>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 err="1"/>
                        <a:t>Does</a:t>
                      </a:r>
                      <a:r>
                        <a:rPr lang="fr-CH" sz="1200" dirty="0"/>
                        <a:t>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feel</a:t>
                      </a:r>
                      <a:r>
                        <a:rPr lang="fr-CH" sz="1200" dirty="0"/>
                        <a:t> the </a:t>
                      </a:r>
                      <a:r>
                        <a:rPr lang="fr-CH" sz="1200" dirty="0" err="1"/>
                        <a:t>delivery</a:t>
                      </a:r>
                      <a:r>
                        <a:rPr lang="fr-CH" sz="1200" dirty="0"/>
                        <a:t> process </a:t>
                      </a:r>
                      <a:r>
                        <a:rPr lang="fr-CH" sz="1200" dirty="0" err="1"/>
                        <a:t>being</a:t>
                      </a:r>
                      <a:r>
                        <a:rPr lang="fr-CH" sz="1200" dirty="0"/>
                        <a:t>  </a:t>
                      </a:r>
                      <a:r>
                        <a:rPr lang="fr-CH" sz="1200" dirty="0" err="1"/>
                        <a:t>convenient</a:t>
                      </a:r>
                      <a:r>
                        <a:rPr lang="fr-CH" sz="1200" dirty="0"/>
                        <a:t> for </a:t>
                      </a:r>
                      <a:r>
                        <a:rPr lang="fr-CH" sz="1200" dirty="0" err="1"/>
                        <a:t>him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Once </a:t>
                      </a:r>
                      <a:r>
                        <a:rPr lang="fr-CH" sz="1200" dirty="0" err="1"/>
                        <a:t>delivered</a:t>
                      </a:r>
                      <a:r>
                        <a:rPr lang="fr-CH" sz="1200" dirty="0"/>
                        <a:t>, </a:t>
                      </a:r>
                      <a:r>
                        <a:rPr lang="fr-CH" sz="1200" dirty="0" err="1"/>
                        <a:t>is</a:t>
                      </a:r>
                      <a:r>
                        <a:rPr lang="fr-CH" sz="1200" dirty="0"/>
                        <a:t> the usage of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</a:t>
                      </a:r>
                      <a:r>
                        <a:rPr lang="fr-CH" sz="1200" dirty="0"/>
                        <a:t> or service </a:t>
                      </a:r>
                      <a:r>
                        <a:rPr lang="fr-CH" sz="1200" dirty="0" err="1"/>
                        <a:t>convenient</a:t>
                      </a:r>
                      <a:r>
                        <a:rPr lang="fr-CH" sz="1200" dirty="0"/>
                        <a:t>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easy</a:t>
                      </a:r>
                      <a:r>
                        <a:rPr lang="fr-CH" sz="1200" dirty="0"/>
                        <a:t>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add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supplements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initial sale to </a:t>
                      </a:r>
                      <a:r>
                        <a:rPr lang="fr-CH" sz="1200" dirty="0" err="1"/>
                        <a:t>him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How </a:t>
                      </a:r>
                      <a:r>
                        <a:rPr lang="fr-CH" sz="1200" dirty="0" err="1"/>
                        <a:t>convenient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is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for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maintain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products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this</a:t>
                      </a:r>
                      <a:r>
                        <a:rPr lang="fr-CH" sz="1200" dirty="0"/>
                        <a:t> process </a:t>
                      </a:r>
                      <a:r>
                        <a:rPr lang="fr-CH" sz="1200" dirty="0" err="1"/>
                        <a:t>convenient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645841"/>
                  </a:ext>
                </a:extLst>
              </a:tr>
              <a:tr h="1033096">
                <a:tc>
                  <a:txBody>
                    <a:bodyPr/>
                    <a:lstStyle/>
                    <a:p>
                      <a:pPr algn="ctr"/>
                      <a:r>
                        <a:rPr lang="fr-CH" dirty="0">
                          <a:solidFill>
                            <a:schemeClr val="bg1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dirty="0" err="1"/>
                        <a:t>Does</a:t>
                      </a:r>
                      <a:r>
                        <a:rPr lang="fr-CH" sz="1200" dirty="0"/>
                        <a:t>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take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any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particular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risk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working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with</a:t>
                      </a:r>
                      <a:r>
                        <a:rPr lang="fr-CH" sz="1200" dirty="0"/>
                        <a:t> us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 err="1"/>
                        <a:t>What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risks</a:t>
                      </a:r>
                      <a:r>
                        <a:rPr lang="fr-CH" sz="1200" dirty="0"/>
                        <a:t> are </a:t>
                      </a:r>
                      <a:r>
                        <a:rPr lang="fr-CH" sz="1200" dirty="0" err="1"/>
                        <a:t>related</a:t>
                      </a:r>
                      <a:r>
                        <a:rPr lang="fr-CH" sz="1200" dirty="0"/>
                        <a:t> to the </a:t>
                      </a:r>
                      <a:r>
                        <a:rPr lang="fr-CH" sz="1200" dirty="0" err="1"/>
                        <a:t>delivery</a:t>
                      </a:r>
                      <a:r>
                        <a:rPr lang="fr-CH" sz="1200" dirty="0"/>
                        <a:t> of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products</a:t>
                      </a:r>
                      <a:r>
                        <a:rPr lang="fr-CH" sz="1200" dirty="0"/>
                        <a:t> ? How can </a:t>
                      </a:r>
                      <a:r>
                        <a:rPr lang="fr-CH" sz="1200" dirty="0" err="1"/>
                        <a:t>we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reduce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them</a:t>
                      </a:r>
                      <a:r>
                        <a:rPr lang="fr-CH" sz="1200" dirty="0"/>
                        <a:t>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 err="1"/>
                        <a:t>What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could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be</a:t>
                      </a:r>
                      <a:r>
                        <a:rPr lang="fr-CH" sz="1200" dirty="0"/>
                        <a:t> the </a:t>
                      </a:r>
                      <a:r>
                        <a:rPr lang="fr-CH" sz="1200" dirty="0" err="1"/>
                        <a:t>risks</a:t>
                      </a:r>
                      <a:r>
                        <a:rPr lang="fr-CH" sz="1200" dirty="0"/>
                        <a:t>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associated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with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products</a:t>
                      </a:r>
                      <a:r>
                        <a:rPr lang="fr-CH" sz="1200" dirty="0"/>
                        <a:t> and services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risky</a:t>
                      </a:r>
                      <a:r>
                        <a:rPr lang="fr-CH" sz="1200" dirty="0"/>
                        <a:t> for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customers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buy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supplements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products</a:t>
                      </a:r>
                      <a:r>
                        <a:rPr lang="fr-CH" sz="1200" dirty="0"/>
                        <a:t> and services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Are </a:t>
                      </a:r>
                      <a:r>
                        <a:rPr lang="fr-CH" sz="1200" dirty="0" err="1"/>
                        <a:t>they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any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risks</a:t>
                      </a:r>
                      <a:r>
                        <a:rPr lang="fr-CH" sz="1200" dirty="0"/>
                        <a:t>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if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</a:t>
                      </a:r>
                      <a:r>
                        <a:rPr lang="fr-CH" sz="1200" dirty="0"/>
                        <a:t> or service </a:t>
                      </a:r>
                      <a:r>
                        <a:rPr lang="fr-CH" sz="1200" dirty="0" err="1"/>
                        <a:t>doesn’t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work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properly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 err="1"/>
                        <a:t>What</a:t>
                      </a:r>
                      <a:r>
                        <a:rPr lang="fr-CH" sz="1200" dirty="0"/>
                        <a:t> are the </a:t>
                      </a:r>
                      <a:r>
                        <a:rPr lang="fr-CH" sz="1200" dirty="0" err="1"/>
                        <a:t>costs</a:t>
                      </a:r>
                      <a:r>
                        <a:rPr lang="fr-CH" sz="1200" dirty="0"/>
                        <a:t> and </a:t>
                      </a:r>
                      <a:r>
                        <a:rPr lang="fr-CH" sz="1200" dirty="0" err="1"/>
                        <a:t>risks</a:t>
                      </a:r>
                      <a:r>
                        <a:rPr lang="fr-CH" sz="1200" dirty="0"/>
                        <a:t> for the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to dispose of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products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316731"/>
                  </a:ext>
                </a:extLst>
              </a:tr>
              <a:tr h="1220932">
                <a:tc>
                  <a:txBody>
                    <a:bodyPr/>
                    <a:lstStyle/>
                    <a:p>
                      <a:pPr algn="ctr"/>
                      <a:r>
                        <a:rPr lang="fr-CH" dirty="0">
                          <a:solidFill>
                            <a:schemeClr val="bg1"/>
                          </a:solidFill>
                        </a:rPr>
                        <a:t>Fun and image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enjoyable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making</a:t>
                      </a:r>
                      <a:r>
                        <a:rPr lang="fr-CH" sz="1200" dirty="0"/>
                        <a:t> business </a:t>
                      </a:r>
                      <a:r>
                        <a:rPr lang="fr-CH" sz="1200" dirty="0" err="1"/>
                        <a:t>with</a:t>
                      </a:r>
                      <a:r>
                        <a:rPr lang="fr-CH" sz="1200" dirty="0"/>
                        <a:t> us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logistics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perfect</a:t>
                      </a:r>
                      <a:r>
                        <a:rPr lang="fr-CH" sz="1200" dirty="0"/>
                        <a:t>, </a:t>
                      </a:r>
                      <a:r>
                        <a:rPr lang="fr-CH" sz="1200" dirty="0" err="1"/>
                        <a:t>meaning</a:t>
                      </a:r>
                      <a:r>
                        <a:rPr lang="fr-CH" sz="1200" dirty="0"/>
                        <a:t> efficient and </a:t>
                      </a:r>
                      <a:r>
                        <a:rPr lang="fr-CH" sz="1200" dirty="0" err="1"/>
                        <a:t>elegant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Is </a:t>
                      </a:r>
                      <a:r>
                        <a:rPr lang="fr-CH" sz="1200" dirty="0" err="1"/>
                        <a:t>it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pleasant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be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Do </a:t>
                      </a:r>
                      <a:r>
                        <a:rPr lang="fr-CH" sz="1200" dirty="0" err="1"/>
                        <a:t>we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sell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supplements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that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make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working</a:t>
                      </a:r>
                      <a:r>
                        <a:rPr lang="fr-CH" sz="1200" dirty="0"/>
                        <a:t> for us more </a:t>
                      </a:r>
                      <a:r>
                        <a:rPr lang="fr-CH" sz="1200" dirty="0" err="1"/>
                        <a:t>pleasant</a:t>
                      </a:r>
                      <a:r>
                        <a:rPr lang="fr-CH" sz="1200" dirty="0"/>
                        <a:t> for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customers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How </a:t>
                      </a:r>
                      <a:r>
                        <a:rPr lang="fr-CH" sz="1200" dirty="0" err="1"/>
                        <a:t>could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we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tranform</a:t>
                      </a:r>
                      <a:r>
                        <a:rPr lang="fr-CH" sz="1200" dirty="0"/>
                        <a:t> the </a:t>
                      </a:r>
                      <a:r>
                        <a:rPr lang="fr-CH" sz="1200" dirty="0" err="1"/>
                        <a:t>hurdle</a:t>
                      </a:r>
                      <a:r>
                        <a:rPr lang="fr-CH" sz="1200" dirty="0"/>
                        <a:t> of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</a:t>
                      </a:r>
                      <a:r>
                        <a:rPr lang="fr-CH" sz="1200" dirty="0"/>
                        <a:t> maintenance </a:t>
                      </a:r>
                      <a:r>
                        <a:rPr lang="fr-CH" sz="1200" dirty="0" err="1"/>
                        <a:t>into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something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elegant</a:t>
                      </a:r>
                      <a:r>
                        <a:rPr lang="fr-CH" sz="1200" dirty="0"/>
                        <a:t> or </a:t>
                      </a:r>
                      <a:r>
                        <a:rPr lang="fr-CH" sz="1200" dirty="0" err="1"/>
                        <a:t>funny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1664"/>
                  </a:ext>
                </a:extLst>
              </a:tr>
              <a:tr h="1220932">
                <a:tc>
                  <a:txBody>
                    <a:bodyPr/>
                    <a:lstStyle/>
                    <a:p>
                      <a:pPr algn="ctr"/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Environmental</a:t>
                      </a:r>
                      <a:r>
                        <a:rPr lang="fr-CH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CH" dirty="0" err="1">
                          <a:solidFill>
                            <a:schemeClr val="bg1"/>
                          </a:solidFill>
                        </a:rPr>
                        <a:t>friendliness</a:t>
                      </a:r>
                      <a:endParaRPr lang="fr-CH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How do </a:t>
                      </a:r>
                      <a:r>
                        <a:rPr lang="fr-CH" sz="1200" dirty="0" err="1"/>
                        <a:t>we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address</a:t>
                      </a:r>
                      <a:r>
                        <a:rPr lang="fr-CH" sz="1200" dirty="0"/>
                        <a:t>, </a:t>
                      </a:r>
                      <a:r>
                        <a:rPr lang="fr-CH" sz="1200" dirty="0" err="1"/>
                        <a:t>from</a:t>
                      </a:r>
                      <a:r>
                        <a:rPr lang="fr-CH" sz="1200" dirty="0"/>
                        <a:t> the </a:t>
                      </a:r>
                      <a:r>
                        <a:rPr lang="fr-CH" sz="1200" dirty="0" err="1"/>
                        <a:t>very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beginning</a:t>
                      </a:r>
                      <a:r>
                        <a:rPr lang="fr-CH" sz="1200" dirty="0"/>
                        <a:t> of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relation, </a:t>
                      </a:r>
                      <a:r>
                        <a:rPr lang="fr-CH" sz="1200" dirty="0" err="1"/>
                        <a:t>environmental</a:t>
                      </a:r>
                      <a:r>
                        <a:rPr lang="fr-CH" sz="1200" dirty="0"/>
                        <a:t> issues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Do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products</a:t>
                      </a:r>
                      <a:r>
                        <a:rPr lang="fr-CH" sz="1200" dirty="0"/>
                        <a:t> and services </a:t>
                      </a:r>
                      <a:r>
                        <a:rPr lang="fr-CH" sz="1200" dirty="0" err="1"/>
                        <a:t>comply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with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environments</a:t>
                      </a:r>
                      <a:r>
                        <a:rPr lang="fr-CH" sz="1200" dirty="0"/>
                        <a:t> standards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sz="1200" dirty="0"/>
                        <a:t>How do </a:t>
                      </a:r>
                      <a:r>
                        <a:rPr lang="fr-CH" sz="1200" dirty="0" err="1"/>
                        <a:t>we</a:t>
                      </a:r>
                      <a:r>
                        <a:rPr lang="fr-CH" sz="1200" dirty="0"/>
                        <a:t> help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customer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handle</a:t>
                      </a:r>
                      <a:r>
                        <a:rPr lang="fr-CH" sz="1200" dirty="0"/>
                        <a:t> the </a:t>
                      </a:r>
                      <a:r>
                        <a:rPr lang="fr-CH" sz="1200" dirty="0" err="1"/>
                        <a:t>environmental</a:t>
                      </a:r>
                      <a:r>
                        <a:rPr lang="fr-CH" sz="1200" dirty="0"/>
                        <a:t> issues </a:t>
                      </a:r>
                      <a:r>
                        <a:rPr lang="fr-CH" sz="1200" dirty="0" err="1"/>
                        <a:t>related</a:t>
                      </a:r>
                      <a:r>
                        <a:rPr lang="fr-CH" sz="1200" dirty="0"/>
                        <a:t> to </a:t>
                      </a:r>
                      <a:r>
                        <a:rPr lang="fr-CH" sz="1200" dirty="0" err="1"/>
                        <a:t>disposal</a:t>
                      </a:r>
                      <a:r>
                        <a:rPr lang="fr-CH" sz="1200" dirty="0"/>
                        <a:t> of </a:t>
                      </a:r>
                      <a:r>
                        <a:rPr lang="fr-CH" sz="1200" dirty="0" err="1"/>
                        <a:t>our</a:t>
                      </a:r>
                      <a:r>
                        <a:rPr lang="fr-CH" sz="1200" dirty="0"/>
                        <a:t> </a:t>
                      </a:r>
                      <a:r>
                        <a:rPr lang="fr-CH" sz="1200" dirty="0" err="1"/>
                        <a:t>products</a:t>
                      </a:r>
                      <a:r>
                        <a:rPr lang="fr-CH" sz="1200" dirty="0"/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671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6912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Grand écran</PresentationFormat>
  <Paragraphs>62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Arial</vt:lpstr>
      <vt:lpstr>Calibri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Patrick Levi Nicolet</dc:creator>
  <cp:lastModifiedBy>Nancy Tonye</cp:lastModifiedBy>
  <cp:revision>6</cp:revision>
  <dcterms:created xsi:type="dcterms:W3CDTF">2019-01-23T16:39:37Z</dcterms:created>
  <dcterms:modified xsi:type="dcterms:W3CDTF">2019-02-21T14:37:40Z</dcterms:modified>
</cp:coreProperties>
</file>